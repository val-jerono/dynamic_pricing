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Mean Absolute Error (USD) ↓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(USD)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Ridge</c:v>
                  </c:pt>
                  <c:pt idx="1">
                    <c:v>Vanilla LSTM</c:v>
                  </c:pt>
                  <c:pt idx="2">
                    <c:v>GBM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5017</c:v>
                </c:pt>
                <c:pt idx="1">
                  <c:v>3917</c:v>
                </c:pt>
                <c:pt idx="2">
                  <c:v>2370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R² Score ↑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Ridge</c:v>
                  </c:pt>
                  <c:pt idx="1">
                    <c:v>Vanilla LSTM</c:v>
                  </c:pt>
                  <c:pt idx="2">
                    <c:v>GBM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0.849</c:v>
                </c:pt>
                <c:pt idx="1">
                  <c:v>0.909</c:v>
                </c:pt>
                <c:pt idx="2">
                  <c:v>0.965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7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365760"/>
            <a:ext cx="3474720" cy="3474720"/>
          </a:xfrm>
          <a:prstGeom prst="ellipse">
            <a:avLst/>
          </a:prstGeom>
          <a:solidFill>
            <a:srgbClr val="1565C0">
              <a:alpha val="18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1097280"/>
            <a:ext cx="2011680" cy="201168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7315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28090">
                    <a:alpha val="70000"/>
                  </a:srgbClr>
                </a:solidFill>
              </a:rPr>
              <a:t>✈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DYNAMIC PRICING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CRISP-DM Analysis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41148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3464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300,153 Indian domestic flight records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ML models: Ridge → GBM → LSTM → BiLSTM+Attention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Dynamic price prediction &amp; booking intelligence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Framework  |  TensorFlow 2.20  |  Scikit-Learn  |  300K+ Records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92024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Airlines don't sell seats at fixed prices. Fares are continuously optimised using demand signals, supply constraints, and competitive intelligence.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3566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reverse-engineers that pricing engine.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66160" y="2743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566160" y="914400"/>
            <a:ext cx="2468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66160" y="914400"/>
            <a:ext cx="246888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0972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300,153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566160" y="1920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Records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914400"/>
            <a:ext cx="2468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914400"/>
            <a:ext cx="2468880" cy="109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0972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309360" y="1920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66160" y="2880360"/>
            <a:ext cx="2468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66160" y="2880360"/>
            <a:ext cx="2468880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30632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3566160" y="3886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2880360"/>
            <a:ext cx="2468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2880360"/>
            <a:ext cx="246888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30632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309360" y="3886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Booking Window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66160" y="46634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 airline · class · days_left · stops · departure_time · season · fuel_price · distance_km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 —  What Drives Flight Prices?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16459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109728" cy="164592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9844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" y="16642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 Class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98424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commands a 3–5× price premium over Economy — the single largest lever in the dataset.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1188720"/>
            <a:ext cx="2743200" cy="16459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188720"/>
            <a:ext cx="109728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9856" y="129844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19856" y="16642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Horizon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19856" y="198424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Last-minute (≤7 days) tickets cost up to 64% more than advance bookings. Prices spike non-linearly.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63056" y="1188720"/>
            <a:ext cx="2743200" cy="16459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188720"/>
            <a:ext cx="109728" cy="1645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129844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64224" y="16642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Brand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64224" y="198424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Vistara anchors the premium end. SpiceJet / IndiGo compete on cost. Brand drives a $500–$1,000 spread.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063240"/>
            <a:ext cx="2743200" cy="16459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63240"/>
            <a:ext cx="109728" cy="1645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17296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5488" y="35387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" y="385876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High-season fares run 20–35% above low-season on identical routes.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18688" y="3063240"/>
            <a:ext cx="2743200" cy="16459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18688" y="3063240"/>
            <a:ext cx="109728" cy="1645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19856" y="317296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419856" y="35387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Costs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19856" y="385876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= −0.07 — airlines absorb short-term fuel shocks rather than passing them directly to passengers.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63056" y="3063240"/>
            <a:ext cx="2743200" cy="16459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63056" y="3063240"/>
            <a:ext cx="109728" cy="1645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64224" y="317296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364224" y="35387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 Time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64224" y="385876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Early-morning slots are discounted; morning and evening windows attract a demand premium.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architectures evaluated on a held-out 15% test set  (45,023 records)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105156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977640"/>
            <a:ext cx="8412480" cy="914400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02920" y="40507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GBM Best Model  —  MAE $2,370  |  RMSE $4,238  |  R² 0.965  |  MAPE 14.8%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0292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 explains 96.5% of price variance. The Route-Level LSTM provides stronger temporal modelling when true booking sequences are available.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Next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model to production-grade dynamic pricing intelligence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840480" cy="3429000"/>
          </a:xfrm>
          <a:prstGeom prst="rect">
            <a:avLst/>
          </a:prstGeom>
          <a:solidFill>
            <a:srgbClr val="112244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Deployed Artefacts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bilstm_attention.keras  (2.5 MB)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scaler_X.pkl  +  scaler_y.pkl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label_encoders.pkl  (9 columns)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predict_price() scorer function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pipeline  (18 inputs → 1 USD output)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26280" y="1316736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316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1280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retraining — stream weekly booking events to keep GBM current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1984248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9476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inventory features — add load factor as a demand-side input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26280" y="2651760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61518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fares — enable cross-elasticity modelling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26280" y="3319272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319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328269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learning — jointly predict demand &amp; price to maximise revenue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26280" y="3986784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3986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39502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— frame as sequential revenue optimisation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71530"/>
          </a:solidFill>
          <a:ln w="12700">
            <a:solidFill>
              <a:srgbClr val="0715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2% improvement in pricing accuracy across 300K routes translates to millions in incremental annual revenue.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Flight Dynamic Pricing — CRISP-DM Analysis</dc:title>
  <dc:subject>PptxGenJS Presentation</dc:subject>
  <dc:creator>Dynamic Pricing Team</dc:creator>
  <cp:lastModifiedBy>Dynamic Pricing Team</cp:lastModifiedBy>
  <cp:revision>1</cp:revision>
  <dcterms:created xsi:type="dcterms:W3CDTF">2026-05-02T18:12:47Z</dcterms:created>
  <dcterms:modified xsi:type="dcterms:W3CDTF">2026-05-02T18:12:47Z</dcterms:modified>
</cp:coreProperties>
</file>